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914400"/>
            <a:ext cx="73152" cy="310896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31520" y="9144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INCIDENTE DE SEGURIDAD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31520" y="164592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Resumen </a:t>
            </a:r>
            <a:r>
              <a:rPr lang="en-US" sz="2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ejecutivo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3"/>
          <p:cNvCxnSpPr/>
          <p:nvPr/>
        </p:nvCxnSpPr>
        <p:spPr>
          <a:xfrm>
            <a:off x="731520" y="2286000"/>
            <a:ext cx="4572000" cy="0"/>
          </a:xfrm>
          <a:prstGeom prst="straightConnector1">
            <a:avLst/>
          </a:prstGeom>
          <a:noFill/>
          <a:ln cap="flat" cmpd="sng" w="15225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/>
          <p:nvPr/>
        </p:nvSpPr>
        <p:spPr>
          <a:xfrm>
            <a:off x="731520" y="242316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Servidor de producción  —  4Geeks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Analista: Gabriel Martinez  |  Marzo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3749040"/>
            <a:ext cx="1463040" cy="320040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731520" y="37490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377440" y="37673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Distribución restringida al equipo directivo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ocurrió?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57200" y="685800"/>
            <a:ext cx="8229600" cy="19202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57200" y="685800"/>
            <a:ext cx="91440" cy="192024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685800" y="749808"/>
            <a:ext cx="7818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Nuestro servidor web fue comprometido por un ataque que, se infiltró sin levantar alarmas visibles. El ataque afectó configuraciones críticas del sistema: debilitó contraseñas, abrió accesos que debían estar cerrados y desprotegió archivos sensibles. El servidor aloja nuestra plataforma WordPress y es accesible desde internet, lo que amplió el impacto potencial del incidente.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LO MÁS IMPORTANTE: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57200" y="3090672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A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A7A2A"/>
                </a:solidFill>
                <a:latin typeface="Calibri"/>
                <a:ea typeface="Calibri"/>
                <a:cs typeface="Calibri"/>
                <a:sym typeface="Calibri"/>
              </a:rPr>
              <a:t>✓  No hubo robo de datos confirmado ni acceso externo registrado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A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A7A2A"/>
                </a:solidFill>
                <a:latin typeface="Calibri"/>
                <a:ea typeface="Calibri"/>
                <a:cs typeface="Calibri"/>
                <a:sym typeface="Calibri"/>
              </a:rPr>
              <a:t>✓  El ataque fue detectado y todos los daños corregidos en menos de 24 horas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!   El servidor estuvo expuesto durante el tiempo que el ataque permaneció activo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4"/>
          <p:cNvCxnSpPr/>
          <p:nvPr/>
        </p:nvCxnSpPr>
        <p:spPr>
          <a:xfrm>
            <a:off x="365760" y="4892040"/>
            <a:ext cx="8412480" cy="0"/>
          </a:xfrm>
          <a:prstGeom prst="straightConnector1">
            <a:avLst/>
          </a:prstGeom>
          <a:noFill/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4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4Geeks Academy  |  Gabriel Martinez  |  Marzo 2026  |  CONFIDENCIAL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incidente en números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457200" y="1005840"/>
            <a:ext cx="1920240" cy="137160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457200" y="1170432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57200" y="18745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seguridad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2514600" y="1005840"/>
            <a:ext cx="1920240" cy="1371600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2514600" y="1170432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2514600" y="18745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Críticos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(alto riesgo)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572000" y="1005840"/>
            <a:ext cx="1920240" cy="13716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4572000" y="1170432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24h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4572000" y="18745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Tiempo 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respuesta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629400" y="1005840"/>
            <a:ext cx="1920240" cy="13716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6629400" y="1170432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629400" y="18745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corregidos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Fuente: Análisis forense realizado el 3–6 de marzo de 2026 sobre el servidor Debian 12 (IP 192.168.0.122)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365760" y="4892040"/>
            <a:ext cx="8412480" cy="0"/>
          </a:xfrm>
          <a:prstGeom prst="straightConnector1">
            <a:avLst/>
          </a:prstGeom>
          <a:noFill/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5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4Geeks Academy  |  Gabriel Martinez  |  Marzo 2026  |  CONFIDENCIAL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 6 problemas encontrados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365760" y="658368"/>
            <a:ext cx="4206240" cy="12070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365760" y="658368"/>
            <a:ext cx="64008" cy="1207008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530352" y="768096"/>
            <a:ext cx="39502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🔴 Contraseñas comprometidas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530352" y="1069848"/>
            <a:ext cx="3950208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El ataque debilitó las credenciales de la base de datos, dejando toda la información del sitio al descubierto.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754880" y="658368"/>
            <a:ext cx="4206240" cy="12070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4754880" y="658368"/>
            <a:ext cx="64008" cy="1207008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4919472" y="768096"/>
            <a:ext cx="39502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🔴 Acceso FTP abierto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4919472" y="1069848"/>
            <a:ext cx="3950208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El ataque habilitó el acceso libre al servidor: cualquier persona podía conectarse sin usuario ni contraseña y subir archivos.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365760" y="2029968"/>
            <a:ext cx="4206240" cy="12070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365760" y="2029968"/>
            <a:ext cx="64008" cy="1207008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530352" y="2139696"/>
            <a:ext cx="39502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🔴 Puerta trasera SSH activada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530352" y="2441448"/>
            <a:ext cx="3950208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El ataque dejó activo el acceso directo del administrador máximo (root) por internet, facilitando la toma de control total.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754880" y="2029968"/>
            <a:ext cx="4206240" cy="12070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4754880" y="2029968"/>
            <a:ext cx="64008" cy="1207008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4919472" y="2139696"/>
            <a:ext cx="39502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🔴 Archivo de claves expuesto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919472" y="2441448"/>
            <a:ext cx="3950208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El ataque alteró los permisos del archivo de configuración del sitio, dejando las contraseñas visibles para cualquier usuario.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365760" y="3401568"/>
            <a:ext cx="4206240" cy="12070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365760" y="3401568"/>
            <a:ext cx="64008" cy="1207008"/>
          </a:xfrm>
          <a:prstGeom prst="rect">
            <a:avLst/>
          </a:prstGeom>
          <a:solidFill>
            <a:srgbClr val="E67E00"/>
          </a:solidFill>
          <a:ln cap="flat" cmpd="sng" w="12700">
            <a:solidFill>
              <a:srgbClr val="E67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530352" y="3511296"/>
            <a:ext cx="39502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🟡 Carpetas del servidor visibles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30352" y="3813048"/>
            <a:ext cx="3950208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El ataque dejó las carpetas del servidor expuestas al público, permitiendo explorar su contenido como un mapa del sistema.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754880" y="3401568"/>
            <a:ext cx="4206240" cy="12070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4754880" y="3401568"/>
            <a:ext cx="64008" cy="1207008"/>
          </a:xfrm>
          <a:prstGeom prst="rect">
            <a:avLst/>
          </a:prstGeom>
          <a:solidFill>
            <a:srgbClr val="E67E00"/>
          </a:solidFill>
          <a:ln cap="flat" cmpd="sng" w="12700">
            <a:solidFill>
              <a:srgbClr val="E67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4919472" y="3511296"/>
            <a:ext cx="39502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🟡 Servicios ocultos activados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919472" y="3813048"/>
            <a:ext cx="3950208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El ataque activó programas en segundo plano sin función legítima, ampliando la superficie disponible para nuevos ataques.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6"/>
          <p:cNvCxnSpPr/>
          <p:nvPr/>
        </p:nvCxnSpPr>
        <p:spPr>
          <a:xfrm>
            <a:off x="365760" y="4892040"/>
            <a:ext cx="8412480" cy="0"/>
          </a:xfrm>
          <a:prstGeom prst="straightConnector1">
            <a:avLst/>
          </a:prstGeom>
          <a:noFill/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6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4Geeks Academy  |  Gabriel Martinez  |  Marzo 2026  |  CONFIDENCIAL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¿Cuándo ocurrió todo?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7"/>
          <p:cNvCxnSpPr/>
          <p:nvPr/>
        </p:nvCxnSpPr>
        <p:spPr>
          <a:xfrm>
            <a:off x="640080" y="2468880"/>
            <a:ext cx="7863840" cy="0"/>
          </a:xfrm>
          <a:prstGeom prst="straightConnector1">
            <a:avLst/>
          </a:prstGeom>
          <a:noFill/>
          <a:ln cap="flat" cmpd="sng" w="254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7"/>
          <p:cNvSpPr/>
          <p:nvPr/>
        </p:nvSpPr>
        <p:spPr>
          <a:xfrm>
            <a:off x="301752" y="2249424"/>
            <a:ext cx="402336" cy="402336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-45720" y="1463040"/>
            <a:ext cx="1097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3 Mar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14:57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-137160" y="278892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Inicio 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1947672" y="2249424"/>
            <a:ext cx="402336" cy="402336"/>
          </a:xfrm>
          <a:prstGeom prst="ellipse">
            <a:avLst/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1600200" y="1463040"/>
            <a:ext cx="1097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3 Mar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15:09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1508760" y="278892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Se descubren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los problemas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3593592" y="2249424"/>
            <a:ext cx="402336" cy="402336"/>
          </a:xfrm>
          <a:prstGeom prst="ellipse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3246120" y="1463040"/>
            <a:ext cx="1097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3-4 Mar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3154680" y="278892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Investigación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completa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5239512" y="2249424"/>
            <a:ext cx="402336" cy="402336"/>
          </a:xfrm>
          <a:prstGeom prst="ellipse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4892040" y="1463040"/>
            <a:ext cx="1097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4 Mar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21:00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800600" y="278892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Todos los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problemas resueltos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6885432" y="2249424"/>
            <a:ext cx="402336" cy="402336"/>
          </a:xfrm>
          <a:prstGeom prst="ellipse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6537960" y="1463040"/>
            <a:ext cx="1097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6 Mar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18:25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446520" y="278892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Verificación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external final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457200" y="416052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Tiempo total de resolución: menos de 24 horas desde el inicio del análisis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7"/>
          <p:cNvCxnSpPr/>
          <p:nvPr/>
        </p:nvCxnSpPr>
        <p:spPr>
          <a:xfrm>
            <a:off x="365760" y="4892040"/>
            <a:ext cx="8412480" cy="0"/>
          </a:xfrm>
          <a:prstGeom prst="straightConnector1">
            <a:avLst/>
          </a:prstGeom>
          <a:noFill/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7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4Geeks Academy  |  Gabriel Martinez  |  Marzo 2026  |  CONFIDENCIAL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podría haber pasado?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Al comprometer las configuraciones del servidor, el ataque abrió la puerta a consecuencias graves: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457200" y="1097280"/>
            <a:ext cx="8229600" cy="7498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457200" y="1097280"/>
            <a:ext cx="64008" cy="749808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685800" y="11887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Robo de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3108960" y="1188720"/>
            <a:ext cx="5394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Acceso a toda la base de datos del sitio: usuarios, contraseñas, contenido privado.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457200" y="1993392"/>
            <a:ext cx="8229600" cy="7498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457200" y="1993392"/>
            <a:ext cx="64008" cy="749808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685800" y="208483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Desfiguración del sitio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3108960" y="2084832"/>
            <a:ext cx="5394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Subir archivos maliciosos y cambiar el contenido visible de la página web.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457200" y="2889504"/>
            <a:ext cx="8229600" cy="7498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457200" y="2889504"/>
            <a:ext cx="64008" cy="749808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685800" y="298094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Acceso total al servidor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3108960" y="2980944"/>
            <a:ext cx="5394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Tomar control completo de la máquina y usarla para atacar a otros sistemas.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457200" y="3785616"/>
            <a:ext cx="8229600" cy="7498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457200" y="3785616"/>
            <a:ext cx="64008" cy="749808"/>
          </a:xfrm>
          <a:prstGeom prst="rect">
            <a:avLst/>
          </a:prstGeom>
          <a:solidFill>
            <a:srgbClr val="E67E00"/>
          </a:solidFill>
          <a:ln cap="flat" cmpd="sng" w="12700">
            <a:solidFill>
              <a:srgbClr val="E67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685800" y="387705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7E00"/>
                </a:solidFill>
                <a:latin typeface="Calibri"/>
                <a:ea typeface="Calibri"/>
                <a:cs typeface="Calibri"/>
                <a:sym typeface="Calibri"/>
              </a:rPr>
              <a:t>Daño a la reputación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3108960" y="3877056"/>
            <a:ext cx="5394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Una brecha de seguridad publicada afecta la confianza de alumnos y socios.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8"/>
          <p:cNvCxnSpPr/>
          <p:nvPr/>
        </p:nvCxnSpPr>
        <p:spPr>
          <a:xfrm>
            <a:off x="365760" y="4892040"/>
            <a:ext cx="8412480" cy="0"/>
          </a:xfrm>
          <a:prstGeom prst="straightConnector1">
            <a:avLst/>
          </a:prstGeom>
          <a:noFill/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8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4Geeks Academy  |  Gabriel Martinez  |  Marzo 2026  |  CONFIDENCIAL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se hizo para solucionarlo?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365760" y="694944"/>
            <a:ext cx="329184" cy="329184"/>
          </a:xfrm>
          <a:prstGeom prst="ellipse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365760" y="69494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822960" y="658368"/>
            <a:ext cx="7955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Se cambiaron todas las contraseñas de la base de datos por contraseñas fuertes y complejas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9"/>
          <p:cNvCxnSpPr/>
          <p:nvPr/>
        </p:nvCxnSpPr>
        <p:spPr>
          <a:xfrm>
            <a:off x="822960" y="1225296"/>
            <a:ext cx="795528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9"/>
          <p:cNvSpPr/>
          <p:nvPr/>
        </p:nvSpPr>
        <p:spPr>
          <a:xfrm>
            <a:off x="365760" y="1362456"/>
            <a:ext cx="329184" cy="329184"/>
          </a:xfrm>
          <a:prstGeom prst="ellipse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365760" y="136245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822960" y="1325880"/>
            <a:ext cx="7955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Se cerró el acceso libre por FTP — ahora requiere usuario, contraseña y conexión cifrada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9"/>
          <p:cNvCxnSpPr/>
          <p:nvPr/>
        </p:nvCxnSpPr>
        <p:spPr>
          <a:xfrm>
            <a:off x="822960" y="1892808"/>
            <a:ext cx="795528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9"/>
          <p:cNvSpPr/>
          <p:nvPr/>
        </p:nvSpPr>
        <p:spPr>
          <a:xfrm>
            <a:off x="365760" y="2029968"/>
            <a:ext cx="329184" cy="329184"/>
          </a:xfrm>
          <a:prstGeom prst="ellipse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365760" y="202996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822960" y="1993392"/>
            <a:ext cx="7955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Se bloqueó el acceso directo de administrador por internet — ahora solo se puede entrar con una llave digital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9"/>
          <p:cNvCxnSpPr/>
          <p:nvPr/>
        </p:nvCxnSpPr>
        <p:spPr>
          <a:xfrm>
            <a:off x="822960" y="2560320"/>
            <a:ext cx="795528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9"/>
          <p:cNvSpPr/>
          <p:nvPr/>
        </p:nvSpPr>
        <p:spPr>
          <a:xfrm>
            <a:off x="365760" y="2697480"/>
            <a:ext cx="329184" cy="329184"/>
          </a:xfrm>
          <a:prstGeom prst="ellipse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365760" y="269748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822960" y="2660904"/>
            <a:ext cx="7955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Se protegió el archivo de configuración del sitio web — solo el servidor puede leerlo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9"/>
          <p:cNvCxnSpPr/>
          <p:nvPr/>
        </p:nvCxnSpPr>
        <p:spPr>
          <a:xfrm>
            <a:off x="822960" y="3227832"/>
            <a:ext cx="795528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9"/>
          <p:cNvSpPr/>
          <p:nvPr/>
        </p:nvSpPr>
        <p:spPr>
          <a:xfrm>
            <a:off x="365760" y="3364992"/>
            <a:ext cx="329184" cy="329184"/>
          </a:xfrm>
          <a:prstGeom prst="ellipse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365760" y="336499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822960" y="3328416"/>
            <a:ext cx="7955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Se ocultaron las carpetas del servidor — los visitantes ya no pueden explorar los archivos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9"/>
          <p:cNvCxnSpPr/>
          <p:nvPr/>
        </p:nvCxnSpPr>
        <p:spPr>
          <a:xfrm>
            <a:off x="822960" y="3895344"/>
            <a:ext cx="795528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9"/>
          <p:cNvSpPr/>
          <p:nvPr/>
        </p:nvSpPr>
        <p:spPr>
          <a:xfrm>
            <a:off x="365760" y="4032504"/>
            <a:ext cx="329184" cy="329184"/>
          </a:xfrm>
          <a:prstGeom prst="ellipse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365760" y="403250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822960" y="3995928"/>
            <a:ext cx="7955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Se apagaron los programas innecesarios que estaban activos sin razón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9"/>
          <p:cNvCxnSpPr/>
          <p:nvPr/>
        </p:nvCxnSpPr>
        <p:spPr>
          <a:xfrm>
            <a:off x="365760" y="4892040"/>
            <a:ext cx="8412480" cy="0"/>
          </a:xfrm>
          <a:prstGeom prst="straightConnector1">
            <a:avLst/>
          </a:prstGeom>
          <a:noFill/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9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4Geeks Academy  |  Gabriel Martinez  |  Marzo 2026  |  CONFIDENCIAL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¿Cómo evitamos que vuelva a pasar?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365760" y="621792"/>
            <a:ext cx="2651760" cy="40690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365760" y="621792"/>
            <a:ext cx="2651760" cy="384048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365760" y="621792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 semana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502920" y="1115568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 Autenticación por llave digital en SSH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10"/>
          <p:cNvCxnSpPr/>
          <p:nvPr/>
        </p:nvCxnSpPr>
        <p:spPr>
          <a:xfrm>
            <a:off x="457200" y="1700784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10"/>
          <p:cNvSpPr/>
          <p:nvPr/>
        </p:nvSpPr>
        <p:spPr>
          <a:xfrm>
            <a:off x="502920" y="1792224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 Instalar sistema anti-fuerza bruta (fail2ban)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10"/>
          <p:cNvCxnSpPr/>
          <p:nvPr/>
        </p:nvCxnSpPr>
        <p:spPr>
          <a:xfrm>
            <a:off x="457200" y="2377440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10"/>
          <p:cNvSpPr/>
          <p:nvPr/>
        </p:nvSpPr>
        <p:spPr>
          <a:xfrm>
            <a:off x="502920" y="246888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 Activar HTTPS (candado verde en el sitio)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10"/>
          <p:cNvCxnSpPr/>
          <p:nvPr/>
        </p:nvCxnSpPr>
        <p:spPr>
          <a:xfrm>
            <a:off x="457200" y="3054096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10"/>
          <p:cNvSpPr/>
          <p:nvPr/>
        </p:nvSpPr>
        <p:spPr>
          <a:xfrm>
            <a:off x="502920" y="3145536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 Activar registro de accesos al sistema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3200400" y="621792"/>
            <a:ext cx="2651760" cy="40690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3200400" y="621792"/>
            <a:ext cx="2651760" cy="384048"/>
          </a:xfrm>
          <a:prstGeom prst="rect">
            <a:avLst/>
          </a:prstGeom>
          <a:solidFill>
            <a:srgbClr val="E67E00"/>
          </a:solidFill>
          <a:ln cap="flat" cmpd="sng" w="12700">
            <a:solidFill>
              <a:srgbClr val="E67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3200400" y="621792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Este mes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3337560" y="1115568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 Instalar firewall de aplicaciones web (WAF)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10"/>
          <p:cNvCxnSpPr/>
          <p:nvPr/>
        </p:nvCxnSpPr>
        <p:spPr>
          <a:xfrm>
            <a:off x="3291840" y="1700784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10"/>
          <p:cNvSpPr/>
          <p:nvPr/>
        </p:nvSpPr>
        <p:spPr>
          <a:xfrm>
            <a:off x="3337560" y="1792224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 Monitoreo automático de cambios en archivos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10"/>
          <p:cNvCxnSpPr/>
          <p:nvPr/>
        </p:nvCxnSpPr>
        <p:spPr>
          <a:xfrm>
            <a:off x="3291840" y="2377440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10"/>
          <p:cNvSpPr/>
          <p:nvPr/>
        </p:nvSpPr>
        <p:spPr>
          <a:xfrm>
            <a:off x="3337560" y="246888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 Política formal de contraseñas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10"/>
          <p:cNvCxnSpPr/>
          <p:nvPr/>
        </p:nvCxnSpPr>
        <p:spPr>
          <a:xfrm>
            <a:off x="3291840" y="3054096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10"/>
          <p:cNvSpPr/>
          <p:nvPr/>
        </p:nvSpPr>
        <p:spPr>
          <a:xfrm>
            <a:off x="3337560" y="3145536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 Deshabilitar opciones de SSH innecesarias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6035040" y="621792"/>
            <a:ext cx="2651760" cy="40690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6035040" y="621792"/>
            <a:ext cx="2651760" cy="38404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6035040" y="621792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Próximos 3 meses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6172200" y="1115568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 Panel centralizado de alertas de seguridad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10"/>
          <p:cNvCxnSpPr/>
          <p:nvPr/>
        </p:nvCxnSpPr>
        <p:spPr>
          <a:xfrm>
            <a:off x="6126480" y="1700784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10"/>
          <p:cNvSpPr/>
          <p:nvPr/>
        </p:nvSpPr>
        <p:spPr>
          <a:xfrm>
            <a:off x="6172200" y="1792224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 Auditoría externa por empresa certificada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p10"/>
          <p:cNvCxnSpPr/>
          <p:nvPr/>
        </p:nvCxnSpPr>
        <p:spPr>
          <a:xfrm>
            <a:off x="6126480" y="2377440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10"/>
          <p:cNvSpPr/>
          <p:nvPr/>
        </p:nvSpPr>
        <p:spPr>
          <a:xfrm>
            <a:off x="6172200" y="246888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 Capacitación del equipo de TI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10"/>
          <p:cNvCxnSpPr/>
          <p:nvPr/>
        </p:nvCxnSpPr>
        <p:spPr>
          <a:xfrm>
            <a:off x="6126480" y="3054096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10"/>
          <p:cNvSpPr/>
          <p:nvPr/>
        </p:nvSpPr>
        <p:spPr>
          <a:xfrm>
            <a:off x="6172200" y="3145536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 Evaluar certificación ISO 27001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10"/>
          <p:cNvCxnSpPr/>
          <p:nvPr/>
        </p:nvCxnSpPr>
        <p:spPr>
          <a:xfrm>
            <a:off x="365760" y="4892040"/>
            <a:ext cx="8412480" cy="0"/>
          </a:xfrm>
          <a:prstGeom prst="straightConnector1">
            <a:avLst/>
          </a:prstGeom>
          <a:noFill/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10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4Geeks Academy  |  Gabriel Martinez  |  Marzo 2026  |  CONFIDENCIAL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Estado actual del servidor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365760" y="658368"/>
            <a:ext cx="841248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411480" y="658368"/>
            <a:ext cx="3474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822960" y="658368"/>
            <a:ext cx="5029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Contraseñas de base de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5943600" y="722376"/>
            <a:ext cx="2743200" cy="274320"/>
          </a:xfrm>
          <a:prstGeom prst="rect">
            <a:avLst/>
          </a:prstGeom>
          <a:solidFill>
            <a:srgbClr val="F0FFF0"/>
          </a:solidFill>
          <a:ln cap="flat" cmpd="sng" w="101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5943600" y="72237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Cambiadas — fuertes y seguras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365760" y="1170432"/>
            <a:ext cx="8412480" cy="420624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411480" y="1170432"/>
            <a:ext cx="3474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822960" y="1170432"/>
            <a:ext cx="5029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Acceso FTP anónimo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5943600" y="1234440"/>
            <a:ext cx="2743200" cy="274320"/>
          </a:xfrm>
          <a:prstGeom prst="rect">
            <a:avLst/>
          </a:prstGeom>
          <a:solidFill>
            <a:srgbClr val="F0FFF0"/>
          </a:solidFill>
          <a:ln cap="flat" cmpd="sng" w="101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5943600" y="12344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Deshabilitado — servicio apagado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365760" y="1682496"/>
            <a:ext cx="841248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411480" y="1682496"/>
            <a:ext cx="3474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822960" y="1682496"/>
            <a:ext cx="5029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Acceso root por internet (SSH)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5943600" y="1746504"/>
            <a:ext cx="2743200" cy="274320"/>
          </a:xfrm>
          <a:prstGeom prst="rect">
            <a:avLst/>
          </a:prstGeom>
          <a:solidFill>
            <a:srgbClr val="F0FFF0"/>
          </a:solidFill>
          <a:ln cap="flat" cmpd="sng" w="101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5943600" y="174650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Bloqueado — requiere llave digital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365760" y="2194560"/>
            <a:ext cx="8412480" cy="420624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411480" y="2194560"/>
            <a:ext cx="3474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822960" y="2194560"/>
            <a:ext cx="5029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Archivo de configuración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5943600" y="2258568"/>
            <a:ext cx="2743200" cy="274320"/>
          </a:xfrm>
          <a:prstGeom prst="rect">
            <a:avLst/>
          </a:prstGeom>
          <a:solidFill>
            <a:srgbClr val="F0FFF0"/>
          </a:solidFill>
          <a:ln cap="flat" cmpd="sng" w="101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5943600" y="22585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Protegido — permisos restringidos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365760" y="2706624"/>
            <a:ext cx="841248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411480" y="2706624"/>
            <a:ext cx="3474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822960" y="2706624"/>
            <a:ext cx="5029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Directorio web público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5943600" y="2770632"/>
            <a:ext cx="2743200" cy="274320"/>
          </a:xfrm>
          <a:prstGeom prst="rect">
            <a:avLst/>
          </a:prstGeom>
          <a:solidFill>
            <a:srgbClr val="F0FFF0"/>
          </a:solidFill>
          <a:ln cap="flat" cmpd="sng" w="101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5943600" y="27706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Oculto — visitantes no pueden explorar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365760" y="3218688"/>
            <a:ext cx="8412480" cy="420624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411480" y="3218688"/>
            <a:ext cx="3474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822960" y="3218688"/>
            <a:ext cx="5029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Servicios innecesarios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5943600" y="3282696"/>
            <a:ext cx="2743200" cy="274320"/>
          </a:xfrm>
          <a:prstGeom prst="rect">
            <a:avLst/>
          </a:prstGeom>
          <a:solidFill>
            <a:srgbClr val="F0FFF0"/>
          </a:solidFill>
          <a:ln cap="flat" cmpd="sng" w="101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5943600" y="328269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Apagados y deshabilitados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365760" y="3730752"/>
            <a:ext cx="841248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411480" y="3730752"/>
            <a:ext cx="3474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E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7E0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822960" y="3730752"/>
            <a:ext cx="5029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Registro de accesos (auth.log)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5943600" y="3794760"/>
            <a:ext cx="2743200" cy="274320"/>
          </a:xfrm>
          <a:prstGeom prst="rect">
            <a:avLst/>
          </a:prstGeom>
          <a:solidFill>
            <a:srgbClr val="FFFAF0"/>
          </a:solidFill>
          <a:ln cap="flat" cmpd="sng" w="10150">
            <a:solidFill>
              <a:srgbClr val="E67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5943600" y="37947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E0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7E00"/>
                </a:solidFill>
                <a:latin typeface="Calibri"/>
                <a:ea typeface="Calibri"/>
                <a:cs typeface="Calibri"/>
                <a:sym typeface="Calibri"/>
              </a:rPr>
              <a:t>Pendiente de configurar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365760" y="4242816"/>
            <a:ext cx="8412480" cy="420624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411480" y="4242816"/>
            <a:ext cx="3474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E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7E0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822960" y="4242816"/>
            <a:ext cx="5029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HTTPS / Certificado SSL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5943600" y="4306824"/>
            <a:ext cx="2743200" cy="274320"/>
          </a:xfrm>
          <a:prstGeom prst="rect">
            <a:avLst/>
          </a:prstGeom>
          <a:solidFill>
            <a:srgbClr val="FFFAF0"/>
          </a:solidFill>
          <a:ln cap="flat" cmpd="sng" w="10150">
            <a:solidFill>
              <a:srgbClr val="E67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5943600" y="430682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E0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7E00"/>
                </a:solidFill>
                <a:latin typeface="Calibri"/>
                <a:ea typeface="Calibri"/>
                <a:cs typeface="Calibri"/>
                <a:sym typeface="Calibri"/>
              </a:rPr>
              <a:t>Pendiente de implementar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" name="Google Shape;263;p11"/>
          <p:cNvCxnSpPr/>
          <p:nvPr/>
        </p:nvCxnSpPr>
        <p:spPr>
          <a:xfrm>
            <a:off x="365760" y="4892040"/>
            <a:ext cx="8412480" cy="0"/>
          </a:xfrm>
          <a:prstGeom prst="straightConnector1">
            <a:avLst/>
          </a:prstGeom>
          <a:noFill/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11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4Geeks Academy  |  Gabriel Martinez  |  Marzo 2026  |  CONFIDENCIAL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"/>
          <p:cNvSpPr/>
          <p:nvPr/>
        </p:nvSpPr>
        <p:spPr>
          <a:xfrm>
            <a:off x="457200" y="1005840"/>
            <a:ext cx="73152" cy="292608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731520" y="10058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731520" y="1645920"/>
            <a:ext cx="74980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Los problemas fueron graves, pero actuamos rápido.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El servidor está seguro hoy. Las medidas preventivas que se implementen en las próximas semanas reducirán significativamente el riesgo de que algo así vuelva a ocurrir.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La seguridad no es un evento — es un proceso continuo.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12"/>
          <p:cNvCxnSpPr/>
          <p:nvPr/>
        </p:nvCxnSpPr>
        <p:spPr>
          <a:xfrm>
            <a:off x="731520" y="4069080"/>
            <a:ext cx="4572000" cy="0"/>
          </a:xfrm>
          <a:prstGeom prst="straightConnector1">
            <a:avLst/>
          </a:prstGeom>
          <a:noFill/>
          <a:ln cap="flat" cmpd="sng" w="15225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12"/>
          <p:cNvSpPr/>
          <p:nvPr/>
        </p:nvSpPr>
        <p:spPr>
          <a:xfrm>
            <a:off x="731520" y="4187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Gabriel Martinez  |  Analista de Ciberseguridad  |  4Geeks  |  Marzo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